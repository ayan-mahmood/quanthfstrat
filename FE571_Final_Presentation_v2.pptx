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333333"/>
                </a:solidFill>
              </a:defRPr>
            </a:pPr>
            <a:r>
              <a:t>Statistical Basket Pairs Trading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D1535"/>
                </a:solidFill>
              </a:defRPr>
            </a:pPr>
            <a:r>
              <a:t>Volatility Dispersion Mean-Reversion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9594"/>
                </a:solidFill>
              </a:defRPr>
            </a:pPr>
            <a:r>
              <a:t>FE571 | Professor Anshul Sharma | Group 7</a:t>
            </a:r>
          </a:p>
          <a:p>
            <a:pPr algn="ctr">
              <a:defRPr sz="1400">
                <a:solidFill>
                  <a:srgbClr val="949594"/>
                </a:solidFill>
              </a:defRPr>
            </a:pPr>
            <a:r>
              <a:t>Scott Henriquez, Nakul Jadeja, Ayan Mahmood, Akbar Pathan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Long/short volatility spread strategy across 4 sector pairs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Market-neutral design with low SPY correlation (-0.07)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ML filter tested to improve signal quality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Result: Solid framework, inconsistent alpha — best as portfolio hedge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The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When volatility between related stocks diverges, it tends to snap back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Semiconductor equipment makers vs chip designers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Integrated oil majors vs refiners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Temporary dislocations create trading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</a:defRPr>
            </a:pPr>
            <a:r>
              <a:t>Mean-reversion happens 5-7% of the time — we only trade when it's statistically extreme.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Basket Construction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Pair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Long Basket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Short Basket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Semiconductors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ASML, TSM, KLAC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AMD, NVDA, AVGO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XOM, CVX, COP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VLO, MPC, PSX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Tech Broad vs Mega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RSPT, SOXX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QQQ, AAPL, META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Staples vs Discretionary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XLP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XLY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</a:defRPr>
            </a:pPr>
            <a:r>
              <a:t>Pairs selected for economic linkage — same sector, different volatility profiles.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Signal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D1535"/>
                </a:solidFill>
              </a:defRPr>
            </a:pPr>
            <a:r>
              <a:t>ENTRY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8404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Z-score &gt; +2.0 → Short spread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Z-score &lt; -2.0 → Long spread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VIX &gt; 30 → Stay flat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188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D1535"/>
                </a:solidFill>
              </a:defRPr>
            </a:pPr>
            <a:r>
              <a:t>EXIT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645920"/>
            <a:ext cx="38404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|Z-score| &lt; 0.5 → Close position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|Z-score| &gt; 3.5 → Stop out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Loss &gt; 7% → Stop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</a:defRPr>
            </a:pPr>
            <a:r>
              <a:t>We enter on extremes (2σ) and exit when spreads normalize or risk limits hit.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Machine Learning Filter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Random Forest classifier filters raw Z-score signals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8 features: z-score, momentum, vol_ratio, VIX, correlation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Walk-forward validation with quarterly retraining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30-day embargo between train and test periods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</a:defRPr>
            </a:pPr>
            <a:r>
              <a:t>ML acts as a quality filter — only take signals the model thinks will 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What Drives the Model?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7772400" cy="3200400"/>
          </a:xfrm>
          <a:prstGeom prst="roundRect">
            <a:avLst/>
          </a:prstGeom>
          <a:solidFill>
            <a:srgbClr val="F8F8F8"/>
          </a:solidFill>
          <a:ln>
            <a:solidFill>
              <a:srgbClr val="949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56032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49594"/>
                </a:solidFill>
              </a:defRPr>
            </a:pPr>
            <a:r>
              <a:t>[INSERT: feature_importance.png]</a:t>
            </a:r>
          </a:p>
          <a:p>
            <a:pPr algn="ctr">
              <a:defRPr sz="1200">
                <a:solidFill>
                  <a:srgbClr val="949594"/>
                </a:solidFill>
              </a:defRPr>
            </a:pPr>
            <a:r>
              <a:t>Export from v5 notebook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</a:defRPr>
            </a:pPr>
            <a:r>
              <a:t>Z-score and momentum are the strongest predictors — simple features beat complex ones.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Backtest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Period: 2015-01-01 to 2024-12-31 (10 years)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Position lagged 1 day (no look-ahead bias)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Transaction costs: 5 bps per side (10 bps round-trip)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Walk-forward quarterly retraining with 30-day embargo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</a:defRPr>
            </a:pPr>
            <a:r>
              <a:t>Backtest is clean — no look-ahead bias, realistic transaction costs.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Cumulative Returns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7772400" cy="3200400"/>
          </a:xfrm>
          <a:prstGeom prst="roundRect">
            <a:avLst/>
          </a:prstGeom>
          <a:solidFill>
            <a:srgbClr val="F8F8F8"/>
          </a:solidFill>
          <a:ln>
            <a:solidFill>
              <a:srgbClr val="949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56032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49594"/>
                </a:solidFill>
              </a:defRPr>
            </a:pPr>
            <a:r>
              <a:t>[INSERT: cumulative_returns.png]</a:t>
            </a:r>
          </a:p>
          <a:p>
            <a:pPr algn="ctr">
              <a:defRPr sz="1200">
                <a:solidFill>
                  <a:srgbClr val="949594"/>
                </a:solidFill>
              </a:defRPr>
            </a:pPr>
            <a:r>
              <a:t>Export from v5 notebook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</a:defRPr>
            </a:pPr>
            <a:r>
              <a:t>Mixed results across pairs — Semiconductors and Tech show promise, Energy and Staples struggle.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Drawdown Profile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7772400" cy="3200400"/>
          </a:xfrm>
          <a:prstGeom prst="roundRect">
            <a:avLst/>
          </a:prstGeom>
          <a:solidFill>
            <a:srgbClr val="F8F8F8"/>
          </a:solidFill>
          <a:ln>
            <a:solidFill>
              <a:srgbClr val="949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56032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49594"/>
                </a:solidFill>
              </a:defRPr>
            </a:pPr>
            <a:r>
              <a:t>[INSERT: drawdown_chart.png]</a:t>
            </a:r>
          </a:p>
          <a:p>
            <a:pPr algn="ctr">
              <a:defRPr sz="1200">
                <a:solidFill>
                  <a:srgbClr val="949594"/>
                </a:solidFill>
              </a:defRPr>
            </a:pPr>
            <a:r>
              <a:t>Export from v5 notebook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</a:defRPr>
            </a:pPr>
            <a:r>
              <a:t>Significant drawdowns require strong conviction and proper position sizing.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Performance: ML vs Baseline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Pair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Baseline Sharpe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ML Sharpe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Baseline MaxDD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ML MaxDD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Semiconductors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-0.19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+0.09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-50%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-30%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-50%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Tech vs Mega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+0.18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+0.09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-26%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-24%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Staples vs Discr.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-43%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-35%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</a:defRPr>
            </a:pPr>
            <a:r>
              <a:t>ML reduces drawdowns but doesn't consistently improve Sharpe — filtering helps risk, not return.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Rolling Sharpe Ratio (252-Day)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7772400" cy="3200400"/>
          </a:xfrm>
          <a:prstGeom prst="roundRect">
            <a:avLst/>
          </a:prstGeom>
          <a:solidFill>
            <a:srgbClr val="F8F8F8"/>
          </a:solidFill>
          <a:ln>
            <a:solidFill>
              <a:srgbClr val="949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56032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49594"/>
                </a:solidFill>
              </a:defRPr>
            </a:pPr>
            <a:r>
              <a:t>[INSERT: rolling_sharpe.png]</a:t>
            </a:r>
          </a:p>
          <a:p>
            <a:pPr algn="ctr">
              <a:defRPr sz="1200">
                <a:solidFill>
                  <a:srgbClr val="949594"/>
                </a:solidFill>
              </a:defRPr>
            </a:pPr>
            <a:r>
              <a:t>Export from v5 notebook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</a:defRPr>
            </a:pPr>
            <a:r>
              <a:t>Sharpe fluctuates significantly — strategy has periods of strength and weakness.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Alpha &amp; Beta vs SPY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Pair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Alpha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Beta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Corr w/ SPY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Semiconductors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+1.2%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-0.02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-0.08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+0.03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Tech vs Mega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+0.5%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-0.03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-0.12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Staples vs Discr.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-0.05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PORTFOLIO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-0.89%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-0.02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-0.07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</a:defRPr>
            </a:pPr>
            <a:r>
              <a:t>Near-zero beta confirms market neutrality — strategy returns are uncorrelated with SPY.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Monthly Returns Heatmap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7772400" cy="3200400"/>
          </a:xfrm>
          <a:prstGeom prst="roundRect">
            <a:avLst/>
          </a:prstGeom>
          <a:solidFill>
            <a:srgbClr val="F8F8F8"/>
          </a:solidFill>
          <a:ln>
            <a:solidFill>
              <a:srgbClr val="949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56032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49594"/>
                </a:solidFill>
              </a:defRPr>
            </a:pPr>
            <a:r>
              <a:t>[INSERT: monthly_heatmap.png]</a:t>
            </a:r>
          </a:p>
          <a:p>
            <a:pPr algn="ctr">
              <a:defRPr sz="1200">
                <a:solidFill>
                  <a:srgbClr val="949594"/>
                </a:solidFill>
              </a:defRPr>
            </a:pPr>
            <a:r>
              <a:t>Export from v5 notebook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</a:defRPr>
            </a:pPr>
            <a:r>
              <a:t>No clear seasonality — returns are spread across different periods.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Yearly Performance vs SPY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SPY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Outperform?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+13%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-40%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+18%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</a:defRPr>
            </a:pPr>
            <a:r>
              <a:t>Strategy outperforms in down markets — potential use as a tail-risk hedge.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Strategy Diversification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7772400" cy="3200400"/>
          </a:xfrm>
          <a:prstGeom prst="roundRect">
            <a:avLst/>
          </a:prstGeom>
          <a:solidFill>
            <a:srgbClr val="F8F8F8"/>
          </a:solidFill>
          <a:ln>
            <a:solidFill>
              <a:srgbClr val="949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56032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49594"/>
                </a:solidFill>
              </a:defRPr>
            </a:pPr>
            <a:r>
              <a:t>[INSERT: correlation_matrix.png]</a:t>
            </a:r>
          </a:p>
          <a:p>
            <a:pPr algn="ctr">
              <a:defRPr sz="1200">
                <a:solidFill>
                  <a:srgbClr val="949594"/>
                </a:solidFill>
              </a:defRPr>
            </a:pPr>
            <a:r>
              <a:t>Export from v5 notebook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</a:defRPr>
            </a:pPr>
            <a:r>
              <a:t>Low correlation between pairs (avg 0.03) means combining them reduces portfolio risk.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Risk Profile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Max Drawdown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-26% to -50%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Significant capital risk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VaR (95%)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-1.0% to -1.7%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Daily loss expectation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CVaR (95%)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-1.6% to -2.9%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Tail risk worst days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Win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48-52%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Below coin flip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</a:defRPr>
            </a:pPr>
            <a:r>
              <a:t>This is a low win-rate, high-variance strategy — position sizing is critical.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Fixes &amp; Lessons Learned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D1535"/>
                </a:solidFill>
              </a:defRPr>
            </a:pPr>
            <a:r>
              <a:t>WHAT WE FIXED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8404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Removed look-ahead bias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Added 30-day train/test embargo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Corrected transaction costs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Implemented 3 stop-loss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188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D1535"/>
                </a:solidFill>
              </a:defRPr>
            </a:pPr>
            <a:r>
              <a:t>WHAT WE LEARNED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645920"/>
            <a:ext cx="38404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8 features beat 40 features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Spread mean-reverts only 5-7%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VIX regime matters significantly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Alpha is hard to find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</a:defRPr>
            </a:pPr>
            <a:r>
              <a:t>Proper backtesting revealed our initial results were inflated — honesty improved the strategy.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Investment 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D1535"/>
                </a:solidFill>
              </a:defRPr>
            </a:pPr>
            <a:r>
              <a:t>WHAT WORKED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8404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Market-neutral (β ≈ 0)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Low SPY correlation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Stop-losses limit tail risk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Outperforms in down markets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188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D1535"/>
                </a:solidFill>
              </a:defRPr>
            </a:pPr>
            <a:r>
              <a:t>WHAT DIDN'T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645920"/>
            <a:ext cx="38404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✗ No consistent alpha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✗ Large drawdowns (26-50%)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✗ Underperforms in bull markets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✗ Low win rate (~50%)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</a:defRPr>
            </a:pPr>
            <a:r>
              <a:t>Best suited as a PORTFOLIO HEDGE — allocate 5-10% for downside protection.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333333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D1535"/>
                </a:solidFill>
              </a:defRPr>
            </a:pPr>
            <a:r>
              <a:t>github.com/Ayan-Mahmood/QuantHFStrat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