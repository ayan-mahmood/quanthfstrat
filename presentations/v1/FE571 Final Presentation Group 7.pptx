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8913A9-4E2B-4A4D-8295-829C8E2F0634}">
  <a:tblStyle styleId="{178913A9-4E2B-4A4D-8295-829C8E2F06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ea840dc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ea840dc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ea840dc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ea840dc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ea840dcc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ea840dcc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ea840dcc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ea840dcc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ea840dcc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ea840dcc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ea840dcc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ea840dcc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ea840dcc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ea840dcc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ea840dcc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ea840dcc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ea840dcc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ea840dcc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ea840dcc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ea840dcc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ea840dcc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ea840dcc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</a:t>
            </a:r>
            <a:r>
              <a:rPr lang="en"/>
              <a:t> Basket Pairs Trading Strategy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0" y="0"/>
            <a:ext cx="18588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257"/>
              <a:t>FE571</a:t>
            </a:r>
            <a:endParaRPr sz="1257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7140425" y="0"/>
            <a:ext cx="21906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257"/>
              <a:t>Professor Anshul Sharma</a:t>
            </a:r>
            <a:endParaRPr sz="1257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579350" y="2957950"/>
            <a:ext cx="5985300" cy="43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257"/>
              <a:t>Group 7: Scott Henriquez, Nakul Jadeja, Ayan Mahmood, Akbar Pathan</a:t>
            </a:r>
            <a:endParaRPr sz="1257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Long/short sector basket strategy exploiting volatility spread mean-reversion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Backtested across 4 thematic pairs (2015–2024)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Market-neutral design → low correlation to SPY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Machine Learning filter tested to improve signal quality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Strategy shows mixed results — some pairs profitable, others not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Strong statistical foundation but real-world alpha is elusive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Economic Rationale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should this work?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Within a sector, similar companies should have similar volatilities over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Opportunity: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one basket becomes abnormally more volatile than another, that spread tends to revert to the mean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we are betting 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Temporary dislocations in relative </a:t>
            </a:r>
            <a:r>
              <a:rPr lang="en"/>
              <a:t>volatility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Mean-reversion within 30-60 trading days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Basket Construction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3354950"/>
            <a:ext cx="8520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Equal-weighted within each basket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Pairs chosen for economic linkage (same sector, different sub-industries)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Long leg = typically more stable / Short leg = typically more volatile</a:t>
            </a:r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89405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{178913A9-4E2B-4A4D-8295-829C8E2F0634}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Pair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Long Basket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Short Basket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Semiconductors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ASML, TSM, KLAC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AMD, NVDA, AVGO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Energy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XOM, CVX, COP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VLO, MPC, PSX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Tech Broad vs Mega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RSPT, SOXX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QQQ, AAPL, META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Staples vs Discretionary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XLP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XLY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Signal Generation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179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1: Calculate 20-day rolling volatility for each basket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2: Compute volatility spread = Long Vol − Short Vol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Step 3: Z-score the spread using 120-day rolling mean &amp; std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2793850"/>
            <a:ext cx="3834300" cy="2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Entry Rules: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Z-score &gt; +2 → short the spread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Z-score &lt; -2 → long the spread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VIX &gt; 30 → stay out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758175" y="2793850"/>
            <a:ext cx="3834300" cy="2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Exit</a:t>
            </a:r>
            <a:r>
              <a:rPr lang="en" sz="1800">
                <a:solidFill>
                  <a:schemeClr val="dk2"/>
                </a:solidFill>
              </a:rPr>
              <a:t> Rules: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|Z-score| &lt; 0.5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Z blows out, &gt; ±3.5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Losing trade, down 7%+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Market Panic VIX &gt; 30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Backtest Performance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Mixed Results → no clear winner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 drawdowns across all pairs</a:t>
            </a:r>
            <a:endParaRPr/>
          </a:p>
        </p:txBody>
      </p:sp>
      <p:graphicFrame>
        <p:nvGraphicFramePr>
          <p:cNvPr id="91" name="Google Shape;91;p18"/>
          <p:cNvGraphicFramePr/>
          <p:nvPr/>
        </p:nvGraphicFramePr>
        <p:xfrm>
          <a:off x="952500" y="248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{178913A9-4E2B-4A4D-8295-829C8E2F0634}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Pair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Sharpe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Sortino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Max Drawdown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Semiconductors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−0.19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−0.25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−50%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Energy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+0.01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+0.01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−50%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Tech vs Mega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+0.18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+0.24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−26%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Staples vs Discr.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−0.34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−0.45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−43%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&amp; Tail Behavior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Persistent max drawdowns of 26-50%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underwater for multiple years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Worst Daily Loss (99%) → -2% to -3% loss in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Bottom Line: Strategy has fat tails → big losses </a:t>
            </a:r>
            <a:r>
              <a:rPr b="1" lang="en"/>
              <a:t>happen</a:t>
            </a:r>
            <a:r>
              <a:rPr b="1" lang="en"/>
              <a:t> 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Yearly Excess Returns vs SPY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Found trend where strategy outperforms when SPY is down (2018, 2022)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Underperforms in bull markets</a:t>
            </a:r>
            <a:endParaRPr/>
          </a:p>
        </p:txBody>
      </p:sp>
      <p:graphicFrame>
        <p:nvGraphicFramePr>
          <p:cNvPr id="104" name="Google Shape;104;p20"/>
          <p:cNvGraphicFramePr/>
          <p:nvPr/>
        </p:nvGraphicFramePr>
        <p:xfrm>
          <a:off x="9525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{178913A9-4E2B-4A4D-8295-829C8E2F0634}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Y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ear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Strategy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SPY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Better?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2018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+13%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−4%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2022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+16%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−18%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✅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2020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−40%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+18%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❌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2021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−25%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+29%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❌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Cross-correlation &amp; Regime Behavior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Long baskets: 60-80% correlated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Short baskets</a:t>
            </a:r>
            <a:r>
              <a:rPr lang="en"/>
              <a:t>: 60–90% correlated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Between baskets: 40–70% correlated</a:t>
            </a:r>
            <a:endParaRPr/>
          </a:p>
        </p:txBody>
      </p:sp>
      <p:graphicFrame>
        <p:nvGraphicFramePr>
          <p:cNvPr id="111" name="Google Shape;111;p21"/>
          <p:cNvGraphicFramePr/>
          <p:nvPr/>
        </p:nvGraphicFramePr>
        <p:xfrm>
          <a:off x="952500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{178913A9-4E2B-4A4D-8295-829C8E2F0634}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VIX Level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Strategy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Low (&lt;15)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Few signals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Normal (15–25)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Best performance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High (&gt;30)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Exit all (stop-loss)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57150" marB="57150" marR="123825" marL="123825">
                    <a:lnL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45454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Fixes &amp; Improvements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8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Fixes: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</a:t>
            </a:r>
            <a:r>
              <a:rPr lang="en"/>
              <a:t>emoved lookahead bias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Added train/test split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Simplified ML to 8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Added 3 stop-loss conditions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Future Improvements: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price-based signals instead of volatility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different sector pairs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dynamic hedge ratios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Final Thoughts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Worked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Clean systematic approach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Market-neutral (low SPY correlation)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Stop-losses limit worst outcomes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Didn't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No consistent alpha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Big drawdowns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Underperforms in bull markets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Final Thought</a:t>
            </a:r>
            <a:endParaRPr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Proper framework, proper risk controls, but alpha is hard to find.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1606650" y="1960950"/>
            <a:ext cx="5930700" cy="12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7019"/>
              <a:t>Questions?</a:t>
            </a:r>
            <a:endParaRPr b="1" sz="701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