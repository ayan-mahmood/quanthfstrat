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8"/>
  </p:normalViewPr>
  <p:slideViewPr>
    <p:cSldViewPr snapToGrid="0" snapToObjects="1">
      <p:cViewPr varScale="1">
        <p:scale>
          <a:sx n="134" d="100"/>
          <a:sy n="134" d="100"/>
        </p:scale>
        <p:origin x="1448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2579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project evolved from a simple pairs trading idea into a full quantitative research exercise</a:t>
            </a:r>
          </a:p>
          <a:p>
            <a:r>
              <a:t>• We'll walk through our methodology, what worked, what didn't, and the lessons learned along the way</a:t>
            </a:r>
          </a:p>
          <a:p>
            <a:r>
              <a:t>• The code is fully reproducible on GitHub — we welcome questions at the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We're being upfront: this strategy doesn't generate consistent alpha, but that's actually an important finding</a:t>
            </a:r>
          </a:p>
          <a:p>
            <a:r>
              <a:t>• The real value is in the process — building a rigorous backtesting framework with proper bias controls</a:t>
            </a:r>
          </a:p>
          <a:p>
            <a:r>
              <a:t>• Market neutrality is valuable even without alpha — it provides diversification benefits in a 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Think of ASML and NVIDIA — both are in semiconductors, but ASML makes the machines that make the chips</a:t>
            </a:r>
          </a:p>
          <a:p>
            <a:r>
              <a:t>• When fear hits the sector, they often move together, but sometimes one overreacts relative to the other</a:t>
            </a:r>
          </a:p>
          <a:p>
            <a:r>
              <a:t>• The key insight is that we're not betting on direction — we're betting on the relationship normalizing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 chose these pairs because they have fundamental economic relationships, not just statistical correlation</a:t>
            </a:r>
          </a:p>
          <a:p>
            <a:r>
              <a:t>• The long basket typically has lower volatility — equipment makers, integrated majors, broader ETFs</a:t>
            </a:r>
          </a:p>
          <a:p>
            <a:r>
              <a:t>• Using baskets instead of single stocks reduces idiosyncratic risk from earnings surprises or company-specific news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2-sigma threshold is a balance — tighter means more trades with lower conviction, wider means fewer opportunities</a:t>
            </a:r>
          </a:p>
          <a:p>
            <a:r>
              <a:t>• VIX filter is crucial — we learned that trading during crisis periods (like March 2020) destroys returns</a:t>
            </a:r>
          </a:p>
          <a:p>
            <a:r>
              <a:t>• The 7% stop-loss was added after our backtest audit revealed we were letting losers run too long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 tried 40+ features initially but found that simpler models with 8 core features performed better out-of-sample</a:t>
            </a:r>
          </a:p>
          <a:p>
            <a:r>
              <a:t>• The 30-day embargo prevents data leakage — autocorrelation in returns can inflate backtest performance</a:t>
            </a:r>
          </a:p>
          <a:p>
            <a:r>
              <a:t>• Random Forest was chosen for interpretability — we can see which features matter, unlike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Notice that the z-score itself is most important — the ML is essentially learning when z-score signals are reliable</a:t>
            </a:r>
          </a:p>
          <a:p>
            <a:r>
              <a:t>• Momentum matters because mean-reversion strategies fail when there's a true regime shift happening</a:t>
            </a:r>
          </a:p>
          <a:p>
            <a:r>
              <a:t>• VIX level helps the model avoid trading during extreme market stress when correlations break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 actually found and fixed look-ahead bias during our audit — initial results looked much better before we fixed it</a:t>
            </a:r>
          </a:p>
          <a:p>
            <a:r>
              <a:t>• 10 bps round-trip is conservative for liquid stocks but accounts for market impact on larger positions</a:t>
            </a:r>
          </a:p>
          <a:p>
            <a:r>
              <a:t>• Walk-forward testing is harder to implement but critical — static train/test splits overfit to specific market regimes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Semiconductors shows ML improvement from negative to positive Sharpe with reduced drawdown</a:t>
            </a:r>
          </a:p>
          <a:p>
            <a:r>
              <a:t>• Energy pair struggles but ML still provides some risk reduction</a:t>
            </a:r>
          </a:p>
          <a:p>
            <a:r>
              <a:t>• Both compared against SPY benchmark for context on market-neutral performance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Tech vs Mega Cap pair has the best risk-adjusted profile of all four pairs</a:t>
            </a:r>
          </a:p>
          <a:p>
            <a:r>
              <a:t>• Staples vs Discretionary shows high volatility with persistently negative Sharpe</a:t>
            </a:r>
          </a:p>
          <a:p>
            <a:r>
              <a:t>• The goal is portfolio diversification, not beating SPY — low correlation is the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Semiconductors and Energy both experienced 50% peak-to-trough drawdowns</a:t>
            </a:r>
          </a:p>
          <a:p>
            <a:r>
              <a:t>• These occurred during market stress periods when correlations spiked to 1</a:t>
            </a:r>
          </a:p>
          <a:p>
            <a:r>
              <a:t>• This is why we recommend only 5-10% portfolio allocation maximum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Tech vs Mega pair shows best risk profile with only 26% max drawdown</a:t>
            </a:r>
          </a:p>
          <a:p>
            <a:r>
              <a:t>• Staples vs Discretionary experiences 43% drawdown despite negative returns</a:t>
            </a:r>
          </a:p>
          <a:p>
            <a:r>
              <a:t>• Drawdown clustering around 2020 COVID crash is notable across all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Sharpe ratios near zero tell us this isn't a standalone alpha strategy — but that's okay for a hedge</a:t>
            </a:r>
          </a:p>
          <a:p>
            <a:r>
              <a:t>• The ML improved Semiconductors significantly — from negative to positive Sharpe with 20% less drawdown</a:t>
            </a:r>
          </a:p>
          <a:p>
            <a:r>
              <a:t>• Staples vs Discretionary is our worst performer — the relationship may be too noisy for mean-reversion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wide swings between positive and negative Sharpe show this strategy requires patience and conviction</a:t>
            </a:r>
          </a:p>
          <a:p>
            <a:r>
              <a:t>• You can see periods where the strategy works well (2018, 2022) and periods where it struggles (2020-2021)</a:t>
            </a:r>
          </a:p>
          <a:p>
            <a:r>
              <a:t>• This volatility in performance is why we don't recommend this as a primary strategy — it's supplemental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Beta near zero across all pairs confirms the strategy is truly market-neutral — it won't move with SPY</a:t>
            </a:r>
          </a:p>
          <a:p>
            <a:r>
              <a:t>• Negative correlation is actually desirable — it means this strategy can hedge equity exposure in a portfolio</a:t>
            </a:r>
          </a:p>
          <a:p>
            <a:r>
              <a:t>• The -0.07 portfolio correlation means adding this to a 60/40 portfolio would reduce overall volatility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 looked for monthly patterns like 'sell in May' but found no consistent seasonality in our returns</a:t>
            </a:r>
          </a:p>
          <a:p>
            <a:r>
              <a:t>• The lack of seasonality is actually good — it means returns aren't driven by calendar effects that could disappear</a:t>
            </a:r>
          </a:p>
          <a:p>
            <a:r>
              <a:t>• You can see the red cluster in early 2020 — that's the COVID crash where mean-reversion completely failed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the key insight: we outperform when SPY is negative (2018, 2022) and underperform in bull markets</a:t>
            </a:r>
          </a:p>
          <a:p>
            <a:r>
              <a:t>• 2020 was our worst year because COVID caused correlations to spike to 1 — everything fell together</a:t>
            </a:r>
          </a:p>
          <a:p>
            <a:r>
              <a:t>• If you already own SPY, adding this strategy provides insurance in down years at the cost of bull market returns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Each pair trades independently — semiconductors don't predict energy, tech doesn't predict staples</a:t>
            </a:r>
          </a:p>
          <a:p>
            <a:r>
              <a:t>• This low cross-correlation is powerful: combining all 4 pairs reduces volatility without reducing expected return</a:t>
            </a:r>
          </a:p>
          <a:p>
            <a:r>
              <a:t>• In portfolio theory terms, we get diversification benefit from running multiple uncorrelated sub-strategies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50% max drawdown means you need strong conviction — most investors would abandon the strategy mid-drawdown</a:t>
            </a:r>
          </a:p>
          <a:p>
            <a:r>
              <a:t>• VaR and CVaR tell us on a bad day (5% worst days), we lose 1-3% which is manageable with proper sizing</a:t>
            </a:r>
          </a:p>
          <a:p>
            <a:r>
              <a:t>• Win rate near 50% means profits come from winners being bigger than losers, not from winning more often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Our initial backtest showed 2+ Sharpe ratio — after fixing biases, we got near-zero. That's a humbling lesson.</a:t>
            </a:r>
          </a:p>
          <a:p>
            <a:r>
              <a:t>• Look-ahead bias is the #1 killer of academic trading strategies — we used next-day signals accidentally</a:t>
            </a:r>
          </a:p>
          <a:p>
            <a:r>
              <a:t>• The fact that we found and fixed these issues is actually the most valuable part of this 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We're not claiming this is an alpha machine — we're being honest about what it is: a diversification tool</a:t>
            </a:r>
          </a:p>
          <a:p>
            <a:r>
              <a:t>• The 5-10% allocation recommendation comes from balancing hedge benefit against opportunity cost in bull markets</a:t>
            </a:r>
          </a:p>
          <a:p>
            <a:r>
              <a:t>• For a family office or pension fund, this type of uncorrelated strategy has real value even at low Sharpe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Thank you for your attention — all code is available on GitHub for you to reproduce our results</a:t>
            </a:r>
          </a:p>
          <a:p>
            <a:r>
              <a:t>• We welcome questions about methodology, the ML approach, or how this could fit in a real portfolio</a:t>
            </a:r>
          </a:p>
          <a:p>
            <a:r>
              <a:t>• This project taught us more about proper backtesting than any textbook — happy to discuss the technical details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Ayan-Mahmood/QuantHFStrat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7286" y="1848475"/>
            <a:ext cx="6569427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Helvetica Neue"/>
              </a:defRPr>
            </a:pPr>
            <a:r>
              <a:rPr dirty="0"/>
              <a:t>Statistical Basket Pairs </a:t>
            </a:r>
            <a:br>
              <a:rPr lang="en-US" dirty="0"/>
            </a:br>
            <a:r>
              <a:rPr dirty="0"/>
              <a:t>Trading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D1535"/>
                </a:solidFill>
                <a:latin typeface="Helvetica Neue"/>
              </a:defRPr>
            </a:pPr>
            <a:r>
              <a:t>Volatility Dispersion Mean-Reversion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49594"/>
                </a:solidFill>
                <a:latin typeface="Helvetica Neue"/>
              </a:defRPr>
            </a:pPr>
            <a:r>
              <a:t>FE571 | Professor Anshul Sharma | Group 7</a:t>
            </a:r>
          </a:p>
          <a:p>
            <a:pPr algn="ctr">
              <a:defRPr sz="1400">
                <a:solidFill>
                  <a:srgbClr val="949594"/>
                </a:solidFill>
                <a:latin typeface="Helvetica Neue"/>
              </a:defRPr>
            </a:pPr>
            <a:r>
              <a:t>Scott Henriquez, Nakul Jadeja, Ayan Mahmood, Akbar Pathan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Long/short volatility spread strategy across 4 sector pairs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Market-neutral design with low SPY correlation (-0.07)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ML filter tested to improve signal quality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Result: Solid framework, inconsistent alpha — best as portfolio hedge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When volatility between related stocks diverges, it tends to snap back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Semiconductor equipment makers vs chip designers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Integrated oil majors vs refiners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Temporary dislocations create trading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Mean-reversion happens 5-7% of the time — we only trade when it's statistically extreme.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Basket Construction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Long Basket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Short Basket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Semiconductors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ASML, TSM, KLAC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AMD, NVDA, AVGO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XOM, CVX, COP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VLO, MPC, PSX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Tech Broad vs Mega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RSPT, SOXX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QQQ, AAPL, META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Staples vs Discretionary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XLP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XLY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Pairs selected for economic linkage — same sector, different volatility profiles.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Signal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9D1535"/>
                </a:solidFill>
                <a:latin typeface="Helvetica Neue"/>
              </a:defRPr>
            </a:pPr>
            <a:r>
              <a:t>ENTRY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840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Z-score &gt; +2.0 → Short spread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Z-score &lt; -2.0 → Long spread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VIX &gt; 30 → Stay flat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188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9D1535"/>
                </a:solidFill>
                <a:latin typeface="Helvetica Neue"/>
              </a:defRPr>
            </a:pPr>
            <a:r>
              <a:t>EXIT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645920"/>
            <a:ext cx="3840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|Z-score| &lt; 0.5 → Close position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|Z-score| &gt; 3.5 → Stop out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Loss &gt; 7% → Stop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We enter on extremes (2σ) and exit when spreads normalize or risk limits hit.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Machine Learning Filter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Random Forest classifier filters raw Z-score signals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8 features: z-score, momentum, vol_ratio, VIX, correlation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Walk-forward validation with quarterly retraining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30-day embargo between train and test periods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ML acts as a quality filter — only take signals the model thinks will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What Drives the Model?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78" y="1051560"/>
            <a:ext cx="7389844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Z-score and momentum are the strongest predictors — simple features beat complex 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Backtest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Period: 2015-01-01 to 2024-12-31 (10 years)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Position lagged 1 day (no look-ahead bias)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Transaction costs: 5 bps per side (10 bps round-trip)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elvetica Neue"/>
              </a:defRPr>
            </a:pPr>
            <a:r>
              <a:t>• Walk-forward quarterly retraining with 30-day embargo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Backtest is clean — no look-ahead bias, realistic transaction costs.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59857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rPr dirty="0"/>
              <a:t>Cumu</a:t>
            </a:r>
            <a:r>
              <a:rPr lang="en-US" dirty="0"/>
              <a:t>lative</a:t>
            </a:r>
            <a:r>
              <a:rPr dirty="0"/>
              <a:t> Ret</a:t>
            </a:r>
            <a:r>
              <a:rPr lang="en-US" dirty="0"/>
              <a:t>.</a:t>
            </a:r>
            <a:r>
              <a:rPr dirty="0"/>
              <a:t>: Semiconductors &amp;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mulative_returns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97" y="1124917"/>
            <a:ext cx="8936205" cy="2893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ML-Enhanced (red) reduces drawdowns vs Baseline (gray), both compared to SPY (black).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Cumulative Returns: Tech &amp; Staples 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mulative_returns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81" y="1132522"/>
            <a:ext cx="8889237" cy="28784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Tech vs Mega shows most promise; Staples vs Discretionary struggles with consistency.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60150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rPr dirty="0"/>
              <a:t>Drawdown: Semiconductors &amp;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rawdown_chart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5" y="1108710"/>
            <a:ext cx="9044249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50% max drawdowns require strong conviction and strict position sizing.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63130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rPr dirty="0"/>
              <a:t>Drawdown: Tech &amp; Staples 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rawdown_chart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1119178"/>
            <a:ext cx="8915400" cy="2905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Tech vs Mega has smallest drawdown (-26%); Staples pair is more volatile.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Performance: ML vs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Baseline Sharpe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ML Sharpe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Baseline MaxDD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ML MaxDD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Semiconductors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+0.09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Tech vs Mega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+0.09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-26%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-24%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Staples vs Discr.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-35%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ML reduces drawdowns but doesn't consistently improve Sharpe — filtering helps risk, not return.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Rolling Sharpe Ratio (252-Day)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olling_shar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84" y="1005840"/>
            <a:ext cx="7782832" cy="38633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777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rPr dirty="0"/>
              <a:t>Sharpe fluctuates significantly — strategy has periods of strength and weakness.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Alpha &amp; Beta vs SPY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Alpha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Beta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Corr w/ SPY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Semiconductors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Tech vs Mega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Staples vs Discr.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PORTFOLIO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-0.89%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-0.07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Near-zero beta confirms market neutrality — strategy returns are uncorrelated with SPY.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Monthly Returns Heatmap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onthl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955" y="1005840"/>
            <a:ext cx="6190089" cy="38107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00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rPr dirty="0"/>
              <a:t>No clear seasonality — returns are spread across different periods.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Yearly Performance vs SPY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SPY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Outperform?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2018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+13%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-40%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+18%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+29%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Strategy outperforms in down markets — potential use as a tail-risk hedge.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Strategy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6268" y="937260"/>
            <a:ext cx="4231463" cy="377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Low correlation between pairs (avg 0.03) means combining them reduces portfolio risk.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Risk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Helvetica Neue"/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9D1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Max Drawdown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-26% to -50%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Significant capital risk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VaR (95%)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-1.0% to -1.7%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Daily loss expectation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CVaR (95%)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-1.6% to -2.9%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Tail risk worst days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48-52%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Helvetica Neue"/>
                        </a:defRPr>
                      </a:pPr>
                      <a:r>
                        <a:t>Below coin flip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This is a low win-rate, high-variance strategy — position sizing is critical.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Fixes &amp;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9D1535"/>
                </a:solidFill>
                <a:latin typeface="Helvetica Neue"/>
              </a:defRPr>
            </a:pPr>
            <a:r>
              <a:t>WHAT WE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840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Removed look-ahead bias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Added 30-day train/test embargo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Corrected transaction costs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Implemented 3 stop-loss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188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9D1535"/>
                </a:solidFill>
                <a:latin typeface="Helvetica Neue"/>
              </a:defRPr>
            </a:pPr>
            <a:r>
              <a:t>WHAT WE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645920"/>
            <a:ext cx="3840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• 8 features beat 40 features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• Spread mean-reverts only 5-7%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• VIX regime matters significantly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• Alpha is hard to find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Proper backtesting revealed our initial results were inflated — honesty improved the strategy.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  <a:latin typeface="Helvetica Neue"/>
              </a:defRPr>
            </a:pPr>
            <a:r>
              <a:t>Investment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9D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9D1535"/>
                </a:solidFill>
                <a:latin typeface="Helvetica Neue"/>
              </a:defRPr>
            </a:pPr>
            <a: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840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Market-neutral (β ≈ 0)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Low SPY correlation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Stop-losses limit tail risk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✓ Outperforms in down markets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188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9D1535"/>
                </a:solidFill>
                <a:latin typeface="Helvetica Neue"/>
              </a:defRPr>
            </a:pPr>
            <a:r>
              <a:t>WHAT DIDN'T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645920"/>
            <a:ext cx="3840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✗ No consistent alpha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✗ Large drawdowns (26-50%)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✗ Underperforms in bull markets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Helvetica Neue"/>
              </a:defRPr>
            </a:pPr>
            <a:r>
              <a:t>✗ Low win rate (~50%)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49594"/>
                </a:solidFill>
                <a:latin typeface="Helvetica Neue"/>
              </a:defRPr>
            </a:pPr>
            <a:r>
              <a:t>Best suited as a PORTFOLIO HEDGE — allocate 5-10% for downside protection.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33333"/>
                </a:solidFill>
                <a:latin typeface="Helvetica Neue"/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26664" y="4114800"/>
            <a:ext cx="409067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D1535"/>
                </a:solidFill>
                <a:latin typeface="Helvetica Neue"/>
              </a:defRPr>
            </a:pPr>
            <a:r>
              <a:rPr dirty="0" err="1">
                <a:hlinkClick r:id="rId3"/>
              </a:rPr>
              <a:t>github.com</a:t>
            </a:r>
            <a:r>
              <a:rPr dirty="0">
                <a:hlinkClick r:id="rId3"/>
              </a:rPr>
              <a:t>/Ayan-Mahmood/</a:t>
            </a:r>
            <a:r>
              <a:rPr dirty="0" err="1">
                <a:hlinkClick r:id="rId3"/>
              </a:rPr>
              <a:t>QuantHFStrat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2073</Words>
  <Application>Microsoft Macintosh PowerPoint</Application>
  <PresentationFormat>On-screen Show (16:9)</PresentationFormat>
  <Paragraphs>254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Akbar Pathan</cp:lastModifiedBy>
  <cp:revision>2</cp:revision>
  <dcterms:created xsi:type="dcterms:W3CDTF">2013-01-27T09:14:16Z</dcterms:created>
  <dcterms:modified xsi:type="dcterms:W3CDTF">2025-12-09T04:20:32Z</dcterms:modified>
  <cp:category/>
</cp:coreProperties>
</file>